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002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Equalization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Matching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Implementation with MATLAB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1148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097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histogram? Why enhance contrast?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1148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Histogram Equalization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CDF-based pixel remapping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41148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Histogram Matching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788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to a target distribution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41148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Built-in: histeq()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520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code &amp; results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41148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023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Implementation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251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code &amp; results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41148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1097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Matching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1325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code &amp; results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828800"/>
            <a:ext cx="41148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Analysis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2057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vs Manual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560320"/>
            <a:ext cx="41148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2560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2788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291840"/>
            <a:ext cx="41148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References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3520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sources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200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Histogram?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histogram shows the frequency distribution of pixel intensity values (0–255) in a grayscale image. It reveals whether an image is dark, bright, or well-contrasted.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743200" cy="3200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with Low Contrast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3716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are clustered in a narrow range → dull, washed-out appearance. Medical scans, satellite imagery, and old photos often suffer from this.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347472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743200" cy="3200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Enhancement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3716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Redistribute pixel intensities across the full 0–255 range to improve visual quality and reveal hidden details.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</a:rPr>
              <a:t>Pixel Intensity Range: 0 (Black) → 255 (White)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Histogram Equalization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Histogram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2161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occurrences of each intensity level h(k) for k = 0, 1, ..., 255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0" cy="41148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92024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CDF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176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Distribution Function:  CDF(k) = Σ h(i) for i = 0 to 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423160"/>
            <a:ext cx="0" cy="41148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8036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CDF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1363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T(k) = round( (CDF(k) − CDF_min) / (N − CDF_min) × 255 )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383280"/>
            <a:ext cx="0" cy="41148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502920" cy="50292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Mapping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0965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each pixel value k with its mapped value T(k)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6C1"/>
                </a:solidFill>
              </a:rPr>
              <a:t>Goal: Spread pixel distribution across full 0–255 range for maximum contrast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Built-in histeq() Function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2560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Read and equalize
</a:t>
            </a: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imread(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'pout.tif'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img_eq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histeq(</a:t>
            </a: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Display
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subplot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(2,2,1); imshow(img);
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subplot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(2,2,2); imshow(img_eq);
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subplot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(2,2,3); imhist(img);
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subplot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(2,2,4); imhist(img_eq);</a:t>
            </a:r>
            <a:endParaRPr lang="en-US" sz="950" dirty="0"/>
          </a:p>
        </p:txBody>
      </p:sp>
      <p:pic>
        <p:nvPicPr>
          <p:cNvPr id="6" name="Image 0" descr="/home/claude/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68680"/>
            <a:ext cx="4297680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703320"/>
            <a:ext cx="8595360" cy="11887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Key Observations: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Original histogram: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around 80–150 (narrow mid-range)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Equalized histogram: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full 0–255 range → enhanced contrast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Manual Histogram Equalization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200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Count histogram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hist_count = zeros(1,256);
</a:t>
            </a: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i=1:r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j=1:c
    val = img_int(i,j)+1;
    hist_count(val)++;
  end
end
</a:t>
            </a: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CDF &amp; normalize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cdf = cumsum(hist_count);
cdf_min = min(cdf(cdf&gt;0));
mapping = round(((cdf-cdf_min)/
  (total_pixels-cdf_min))*255);
</a:t>
            </a: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Apply mapping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img_out(i,j) = mapping(pixel+1);</a:t>
            </a:r>
            <a:endParaRPr lang="en-US" sz="900" dirty="0"/>
          </a:p>
        </p:txBody>
      </p:sp>
      <p:pic>
        <p:nvPicPr>
          <p:cNvPr id="6" name="Image 0" descr="/home/claude/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68680"/>
            <a:ext cx="429768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result matches histeq() output — validates correctness of the CDF-based algorithm implementation.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Histogram Matching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Matching (Specification) maps pixel values of a source image so its histogram resembles a target reference histogram.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320040" cy="3200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6642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CDF of source image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320040" cy="3200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3500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CDF of reference image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320040" cy="3200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0358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intensity in source, find matching intensity in reference where CDFs are closest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320040" cy="3200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7216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resulting mapping to the source image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AF4FB"/>
          </a:solidFill>
          <a:ln/>
          <a:effectLst>
            <a:outerShdw blurRad="38100" dist="12700" dir="8100000" algn="bl" rotWithShape="0">
              <a:srgbClr val="AAAAA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from Equalization: Instead of a uniform target, we match a SPECIFIC reference distribution (e.g., cameraman.tif)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Histogram Matching (imhistmatch)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840480" cy="1463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imread(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'pout.tif'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imread(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'cameraman.tif'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matched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imhistmatch(</a:t>
            </a: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2x3 subplot display follows...</a:t>
            </a:r>
            <a:endParaRPr lang="en-US" sz="950" dirty="0"/>
          </a:p>
        </p:txBody>
      </p:sp>
      <p:pic>
        <p:nvPicPr>
          <p:cNvPr id="6" name="Image 0" descr="/home/claude/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23160"/>
            <a:ext cx="859536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5029200"/>
            <a:ext cx="859536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011680" cy="4572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868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Criterion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20116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25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Histogram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2011680" cy="5943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920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514600"/>
            <a:ext cx="20116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514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Function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3108960"/>
            <a:ext cx="2011680" cy="5943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1089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703320"/>
            <a:ext cx="20116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703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868680"/>
            <a:ext cx="2103120" cy="4572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868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Built-in histeq()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0" y="1325880"/>
            <a:ext cx="21031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331720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(flat)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0" y="1920240"/>
            <a:ext cx="2103120" cy="5943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1" name="Text 19"/>
          <p:cNvSpPr/>
          <p:nvPr/>
        </p:nvSpPr>
        <p:spPr>
          <a:xfrm>
            <a:off x="233172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only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0" y="2514600"/>
            <a:ext cx="21031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331720" y="25146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histeq(img)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3108960"/>
            <a:ext cx="2103120" cy="5943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5" name="Text 23"/>
          <p:cNvSpPr/>
          <p:nvPr/>
        </p:nvSpPr>
        <p:spPr>
          <a:xfrm>
            <a:off x="2331720" y="31089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enhancement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0" y="3703320"/>
            <a:ext cx="21031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2331720" y="3703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34840" y="868680"/>
            <a:ext cx="2103120" cy="457200"/>
          </a:xfrm>
          <a:prstGeom prst="rect">
            <a:avLst/>
          </a:prstGeom>
          <a:solidFill>
            <a:srgbClr val="1A7430"/>
          </a:solidFill>
          <a:ln/>
        </p:spPr>
      </p:sp>
      <p:sp>
        <p:nvSpPr>
          <p:cNvPr id="29" name="Text 27"/>
          <p:cNvSpPr/>
          <p:nvPr/>
        </p:nvSpPr>
        <p:spPr>
          <a:xfrm>
            <a:off x="4434840" y="868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Manual Method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34840" y="1325880"/>
            <a:ext cx="21031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(flat)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34840" y="1920240"/>
            <a:ext cx="2103120" cy="5943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only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34840" y="2514600"/>
            <a:ext cx="21031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480560" y="25146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loops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34840" y="3108960"/>
            <a:ext cx="2103120" cy="5943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7" name="Text 35"/>
          <p:cNvSpPr/>
          <p:nvPr/>
        </p:nvSpPr>
        <p:spPr>
          <a:xfrm>
            <a:off x="4480560" y="31089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Learning/research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34840" y="3703320"/>
            <a:ext cx="21031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480560" y="3703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83680" y="868680"/>
            <a:ext cx="2103120" cy="457200"/>
          </a:xfrm>
          <a:prstGeom prst="rect">
            <a:avLst/>
          </a:prstGeom>
          <a:solidFill>
            <a:srgbClr val="8E2DE2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0" y="868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Histogram Match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83680" y="1325880"/>
            <a:ext cx="21031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reference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83680" y="1920240"/>
            <a:ext cx="2103120" cy="5943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5" name="Text 43"/>
          <p:cNvSpPr/>
          <p:nvPr/>
        </p:nvSpPr>
        <p:spPr>
          <a:xfrm>
            <a:off x="662940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reference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83680" y="2514600"/>
            <a:ext cx="21031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629400" y="25146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imhistmatch()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583680" y="3108960"/>
            <a:ext cx="2103120" cy="5943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9" name="Text 47"/>
          <p:cNvSpPr/>
          <p:nvPr/>
        </p:nvSpPr>
        <p:spPr>
          <a:xfrm>
            <a:off x="6629400" y="31089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transfer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583680" y="3703320"/>
            <a:ext cx="21031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629400" y="3703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83080"/>
          </a:xfrm>
          <a:prstGeom prst="rect">
            <a:avLst/>
          </a:prstGeom>
          <a:solidFill>
            <a:srgbClr val="EAF4FB"/>
          </a:solidFill>
          <a:ln/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Medical Imaging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visibility of tissues in X-rays, CT scans, and MRIs. Detect tumors in low-contrast images.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743200" cy="1783080"/>
          </a:xfrm>
          <a:prstGeom prst="rect">
            <a:avLst/>
          </a:prstGeom>
          <a:solidFill>
            <a:srgbClr val="EAF4FB"/>
          </a:solidFill>
          <a:ln/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Satellite Imagery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41732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ground feature visibility. Enhance terrain, vegetation and water boundaries.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743200" cy="1783080"/>
          </a:xfrm>
          <a:prstGeom prst="rect">
            <a:avLst/>
          </a:prstGeom>
          <a:solidFill>
            <a:srgbClr val="EAF4FB"/>
          </a:solidFill>
          <a:ln/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Photography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41732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Auto-enhance old or poorly exposed photos. Dynamic range correction in digital cameras.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2743200" cy="1783080"/>
          </a:xfrm>
          <a:prstGeom prst="rect">
            <a:avLst/>
          </a:prstGeom>
          <a:solidFill>
            <a:srgbClr val="F0FFF4"/>
          </a:solidFill>
          <a:ln/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Microscopy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3832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cellular structures in biological samples that are nearly invisible in raw images.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926080"/>
            <a:ext cx="2743200" cy="1783080"/>
          </a:xfrm>
          <a:prstGeom prst="rect">
            <a:avLst/>
          </a:prstGeom>
          <a:solidFill>
            <a:srgbClr val="F0FFF4"/>
          </a:solidFill>
          <a:ln/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Video Processing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3832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Night-vision enhancement, surveillance video clarity, cinematic color grading.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926080"/>
            <a:ext cx="2743200" cy="1783080"/>
          </a:xfrm>
          <a:prstGeom prst="rect">
            <a:avLst/>
          </a:prstGeom>
          <a:solidFill>
            <a:srgbClr val="F0FFF4"/>
          </a:solidFill>
          <a:ln/>
          <a:effectLst>
            <a:outerShdw blurRad="50800" dist="25400" dir="8100000" algn="bl" rotWithShape="0">
              <a:srgbClr val="AAAAAA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Machine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33832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step for image classification — normalizes input distributions.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73152" cy="640080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Equalization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image contrast by spreading pixel intensity values uniformly using the CDF-based transform.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73152" cy="640080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0574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vs Built-in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manual MATLAB implementation validates that results match MATLAB's built-in histeq(), confirming algorithm correctness.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971800"/>
            <a:ext cx="73152" cy="640080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971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Matching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powerful than equalization — matches any target distribution using imhistmatch(), enabling style transfer and specific enhancement.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886200"/>
            <a:ext cx="73152" cy="640080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886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Value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1605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techniques are foundational in medical imaging, satellite analysis, photography, and computer vision preprocessing.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14284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7183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Gonzalez &amp; Woods, Digital Image Processing (4th ed.) | MathWorks MATLAB Image Processing Toolbox | pout.tif, cameraman.tif (built-in MATLAB)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698</Words>
  <Application>Microsoft Office PowerPoint</Application>
  <PresentationFormat>On-screen Show (16:9)</PresentationFormat>
  <Paragraphs>135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Histogram Equalization and Matching</dc:title>
  <dc:subject>PptxGenJS Presentation</dc:subject>
  <dc:creator>PptxGenJS</dc:creator>
  <cp:lastModifiedBy>Hamza</cp:lastModifiedBy>
  <cp:revision>2</cp:revision>
  <dcterms:created xsi:type="dcterms:W3CDTF">2026-05-13T16:41:15Z</dcterms:created>
  <dcterms:modified xsi:type="dcterms:W3CDTF">2026-05-13T16:48:27Z</dcterms:modified>
</cp:coreProperties>
</file>