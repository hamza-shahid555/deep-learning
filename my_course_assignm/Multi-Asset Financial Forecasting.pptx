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2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39.png"/><Relationship Id="rId5" Type="http://schemas.openxmlformats.org/officeDocument/2006/relationships/image" Target="../media/image36.png"/><Relationship Id="rId10" Type="http://schemas.openxmlformats.org/officeDocument/2006/relationships/image" Target="../media/image38.png"/><Relationship Id="rId4" Type="http://schemas.openxmlformats.org/officeDocument/2006/relationships/image" Target="../media/image35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6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86187" y="3812827"/>
            <a:ext cx="4619625" cy="224194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803076"/>
            <a:ext cx="11601450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Multi-Asset Financial Time-Series Forecasting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7012" y="2685157"/>
            <a:ext cx="66579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Transformer-Based Approach for Stock &amp; Crypto Prediction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271962" y="4250977"/>
            <a:ext cx="36480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GROUP MEMBERS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71962" y="4559498"/>
            <a:ext cx="36480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Hamza </a:t>
            </a:r>
            <a:r>
              <a:rPr lang="en-US" sz="1200" b="1" i="0" u="none" strike="noStrike" cap="none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Shahid</a:t>
            </a:r>
            <a:r>
              <a:rPr lang="en-US" sz="1200" b="0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20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Tariq Jamil</a:t>
            </a:r>
            <a:r>
              <a:rPr lang="en-US" sz="1200" b="0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• </a:t>
            </a:r>
            <a:r>
              <a:rPr lang="en-US" sz="1200" b="1" i="0" u="none" strike="noStrike" cap="none" dirty="0" err="1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Hottam</a:t>
            </a:r>
            <a:r>
              <a:rPr lang="en-US" sz="1200" b="1" i="0" u="none" strike="noStrike" cap="none" dirty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1" i="0" u="none" strike="noStrike" cap="none" dirty="0" err="1" smtClean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Ud</a:t>
            </a:r>
            <a:r>
              <a:rPr lang="en-US" sz="1200" b="1" i="0" u="none" strike="noStrike" cap="none" dirty="0" smtClean="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Din</a:t>
            </a:r>
            <a:endParaRPr sz="1200" dirty="0"/>
          </a:p>
        </p:txBody>
      </p:sp>
      <p:sp>
        <p:nvSpPr>
          <p:cNvPr id="90" name="Google Shape;90;p13"/>
          <p:cNvSpPr/>
          <p:nvPr/>
        </p:nvSpPr>
        <p:spPr>
          <a:xfrm>
            <a:off x="4271962" y="4976663"/>
            <a:ext cx="36480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271962" y="5129063"/>
            <a:ext cx="364807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PRESENTED TO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271962" y="5437584"/>
            <a:ext cx="36480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Ma'am Afsheen Khalid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441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221158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Unified Forecasting Model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2703016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project builds a unified Transformer-based model to predict future returns for multiple assets (stocks and cryptocurrencies) simultaneously.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6393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04875" y="37163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Learns shared financial patterns across assets.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04875" y="4211687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Uses Asset Embeddings to retain asset-specific identity.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04875" y="50117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Objective: Use past 30 days to predict next 5 days.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Project Overview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16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211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0117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85950"/>
            <a:ext cx="5238750" cy="3946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85950"/>
            <a:ext cx="5238750" cy="394692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914400" y="2743200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Problem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14400" y="3377505"/>
            <a:ext cx="45529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Financial markets are inherently noisy, non-stationary, and highly volatile. Traditional models often struggle to generalize across different market regimes.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4514701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"How can we accurately predict short-term future returns for multiple assets using historical data?"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724650" y="2743200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Our Solution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724650" y="337750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frame the problem as a supervised time-series forecasting task using a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Transformer Encoder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22574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2574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6819900" y="423945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915150" y="4240410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Captures long-term dependencies.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819900" y="451374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915150" y="4514701"/>
            <a:ext cx="43624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Scales across many assets effectively.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819900" y="478803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915150" y="4788991"/>
            <a:ext cx="4362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Utilizes embeddings to distinguish between asset types (e.g., Crypto vs. Tech Stock).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Challenge &amp; Solution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969764"/>
            <a:ext cx="520065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Collection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2021234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Source &amp; Period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2512665"/>
            <a:ext cx="49530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Data collected via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Yahoo Finance API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covering a 10-year period (Jan 1, 2015 – Jan 1, 2025). This covers multiple market regimes including bull markets and crashes.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71500" y="3621285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Assets Tracked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71500" y="4093666"/>
            <a:ext cx="2428875" cy="483840"/>
          </a:xfrm>
          <a:prstGeom prst="roundRect">
            <a:avLst>
              <a:gd name="adj" fmla="val 1181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66750" y="4188916"/>
            <a:ext cx="2238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AAPL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3095625" y="4093666"/>
            <a:ext cx="2428875" cy="483840"/>
          </a:xfrm>
          <a:prstGeom prst="roundRect">
            <a:avLst>
              <a:gd name="adj" fmla="val 1181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3190875" y="4188916"/>
            <a:ext cx="2238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MSFT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4672756"/>
            <a:ext cx="2428875" cy="483840"/>
          </a:xfrm>
          <a:prstGeom prst="roundRect">
            <a:avLst>
              <a:gd name="adj" fmla="val 1181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66750" y="4768006"/>
            <a:ext cx="2238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GOOG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3095625" y="4672756"/>
            <a:ext cx="2428875" cy="483840"/>
          </a:xfrm>
          <a:prstGeom prst="roundRect">
            <a:avLst>
              <a:gd name="adj" fmla="val 1181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3190875" y="4768006"/>
            <a:ext cx="2238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AMZN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71500" y="5251846"/>
            <a:ext cx="2428875" cy="483840"/>
          </a:xfrm>
          <a:prstGeom prst="roundRect">
            <a:avLst>
              <a:gd name="adj" fmla="val 1181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66750" y="5347096"/>
            <a:ext cx="2238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59E0B"/>
                </a:solidFill>
                <a:latin typeface="Inter"/>
                <a:ea typeface="Inter"/>
                <a:cs typeface="Inter"/>
                <a:sym typeface="Inter"/>
              </a:rPr>
              <a:t>BTC-USD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3095625" y="5251846"/>
            <a:ext cx="2428875" cy="483840"/>
          </a:xfrm>
          <a:prstGeom prst="roundRect">
            <a:avLst>
              <a:gd name="adj" fmla="val 11811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3190875" y="5347096"/>
            <a:ext cx="2238375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ETH-USD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71500" y="4567981"/>
            <a:ext cx="2428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3095625" y="4567981"/>
            <a:ext cx="2428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571500" y="5147071"/>
            <a:ext cx="2428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3095625" y="5147071"/>
            <a:ext cx="2428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71500" y="5726162"/>
            <a:ext cx="2428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3095625" y="5726162"/>
            <a:ext cx="24288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8990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7077"/>
            <a:ext cx="3492400" cy="3445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3527077"/>
            <a:ext cx="3492549" cy="3445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3527077"/>
            <a:ext cx="3492400" cy="344596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36747" y="1732805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chose to predict 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Returns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instead of raw </a:t>
            </a:r>
            <a:r>
              <a:rPr lang="en-US" sz="180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Prices</a:t>
            </a:r>
            <a:r>
              <a:rPr lang="en-US" sz="18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This is a crucial design choice.</a:t>
            </a:r>
            <a:endParaRPr dirty="0"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38223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1537602" y="4774852"/>
            <a:ext cx="156019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Stationarity</a:t>
            </a:r>
            <a:endParaRPr dirty="0"/>
          </a:p>
        </p:txBody>
      </p:sp>
      <p:sp>
        <p:nvSpPr>
          <p:cNvPr id="173" name="Google Shape;173;p17"/>
          <p:cNvSpPr txBox="1"/>
          <p:nvPr/>
        </p:nvSpPr>
        <p:spPr>
          <a:xfrm>
            <a:off x="866775" y="5409158"/>
            <a:ext cx="29018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Prices trend indefinitely (non-stationary). Returns are mean-centered and stable, making them easier for ML models to learn.</a:t>
            </a:r>
            <a:endParaRPr dirty="0"/>
          </a:p>
        </p:txBody>
      </p:sp>
      <p:pic>
        <p:nvPicPr>
          <p:cNvPr id="174" name="Google Shape;17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38223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5155733" y="4774852"/>
            <a:ext cx="188023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Comparability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4644925" y="5409158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Normalizes data scale. A 2% move in Bitcoin is directly comparable to a 2% move in Apple, despite vast price differences.</a:t>
            </a:r>
            <a:endParaRPr/>
          </a:p>
        </p:txBody>
      </p:sp>
      <p:pic>
        <p:nvPicPr>
          <p:cNvPr id="177" name="Google Shape;17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150" y="382235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9084052" y="4774852"/>
            <a:ext cx="15801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Robustness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423225" y="5409158"/>
            <a:ext cx="29018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Removing the absolute price trend forces the model to learn market dynamics rather than just memorizing price levels.</a:t>
            </a:r>
            <a:endParaRPr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79575" y="401285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351" y="401285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36025" y="401285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571500" y="628948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Why Predict Returns?</a:t>
            </a:r>
            <a:endParaRPr dirty="0"/>
          </a:p>
        </p:txBody>
      </p:sp>
      <p:sp>
        <p:nvSpPr>
          <p:cNvPr id="184" name="Google Shape;184;p17"/>
          <p:cNvSpPr/>
          <p:nvPr/>
        </p:nvSpPr>
        <p:spPr>
          <a:xfrm>
            <a:off x="571500" y="-114895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44117"/>
            <a:ext cx="2547937" cy="317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944117"/>
            <a:ext cx="2547937" cy="317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944117"/>
            <a:ext cx="2547937" cy="3171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944117"/>
            <a:ext cx="2547937" cy="317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762000" y="1831776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Raw returns aren't enough. We enrich the data with financially meaningful features to guide the model.</a:t>
            </a:r>
            <a:endParaRPr/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64468" y="323939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1030366" y="4191892"/>
            <a:ext cx="163020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Daily Return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866775" y="4826198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core signal. Shows immediate momentum and reversals.</a:t>
            </a:r>
            <a:endParaRPr/>
          </a:p>
        </p:txBody>
      </p:sp>
      <p:pic>
        <p:nvPicPr>
          <p:cNvPr id="198" name="Google Shape;19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98156" y="323939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4099083" y="4191892"/>
            <a:ext cx="116014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Volatility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3700462" y="4826198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14-day rolling std dev. Measures risk and market uncertainty.</a:t>
            </a:r>
            <a:endParaRPr/>
          </a:p>
        </p:txBody>
      </p:sp>
      <p:pic>
        <p:nvPicPr>
          <p:cNvPr id="201" name="Google Shape;20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31843" y="323939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6722745" y="4191892"/>
            <a:ext cx="15801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Moving Avg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534150" y="4826198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7, 14, 30-day averages to capture short and medium-term trends.</a:t>
            </a:r>
            <a:endParaRPr/>
          </a:p>
        </p:txBody>
      </p:sp>
      <p:pic>
        <p:nvPicPr>
          <p:cNvPr id="204" name="Google Shape;204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965531" y="323939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9736455" y="4191892"/>
            <a:ext cx="122015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Calendar</a:t>
            </a:r>
            <a:endParaRPr/>
          </a:p>
        </p:txBody>
      </p:sp>
      <p:sp>
        <p:nvSpPr>
          <p:cNvPr id="206" name="Google Shape;206;p18"/>
          <p:cNvSpPr txBox="1"/>
          <p:nvPr/>
        </p:nvSpPr>
        <p:spPr>
          <a:xfrm>
            <a:off x="9367837" y="4826198"/>
            <a:ext cx="195738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Day/Month features to capture seasonal effects and patterns.</a:t>
            </a:r>
            <a:endParaRPr/>
          </a:p>
        </p:txBody>
      </p:sp>
      <p:pic>
        <p:nvPicPr>
          <p:cNvPr id="207" name="Google Shape;207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631156" y="342989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441031" y="342989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8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322343" y="342989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79843" y="342989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8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Feature Engineering</a:t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441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96393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6381750" y="210502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Multi-Step Forecasting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381750" y="2596455"/>
            <a:ext cx="52387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convert raw data into sequences for the model: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6381750" y="412804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78BF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Asset Embeddings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381750" y="4619476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differentiate assets in a single model, we map each Asset ID to a learned vector. This allows the model to learn </a:t>
            </a:r>
            <a:r>
              <a:rPr lang="en-US" sz="13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"A 2% jump in BTC is different from a 2% jump in AAPL"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7096125" y="304219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 (X):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Past 30 Days (30 x 7 features)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7096125" y="3537495"/>
            <a:ext cx="4524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Output (y):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Next 5 Days Returns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Sequence Building &amp; Asset Embeddings</a:t>
            </a:r>
            <a:endParaRPr/>
          </a:p>
        </p:txBody>
      </p:sp>
      <p:sp>
        <p:nvSpPr>
          <p:cNvPr id="227" name="Google Shape;227;p19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8" name="Google Shape;22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04219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53749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5441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0"/>
          <p:cNvSpPr txBox="1"/>
          <p:nvPr/>
        </p:nvSpPr>
        <p:spPr>
          <a:xfrm>
            <a:off x="571500" y="2080170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Core Components</a:t>
            </a:r>
            <a:endParaRPr/>
          </a:p>
        </p:txBody>
      </p:sp>
      <p:pic>
        <p:nvPicPr>
          <p:cNvPr id="237" name="Google Shape;23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96393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904875" y="2552551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 Projection: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Converts raw features to model space.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904875" y="3352651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Embedding Concat: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Adds asset identity info.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904875" y="3847951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Transformer Encoder: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Uses Self-Attention to learn which past days matter most.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904875" y="4648051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Pooling: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Summarizes the sequence into a final state.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904875" y="5143351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Output Layer: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Predicts the vector of next 5 days.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Transformer Architecture</a:t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5525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526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479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48051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143351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0366"/>
            <a:ext cx="3492400" cy="327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220366"/>
            <a:ext cx="3492549" cy="327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7950" y="2220366"/>
            <a:ext cx="3492400" cy="327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251564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1677620" y="3468141"/>
            <a:ext cx="128016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Split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1188987" y="4102447"/>
            <a:ext cx="22574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80% Train / 20% Validation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866775" y="4643437"/>
            <a:ext cx="29018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Split chronologically to prevent future data leakage.</a:t>
            </a:r>
            <a:endParaRPr/>
          </a:p>
        </p:txBody>
      </p:sp>
      <p:pic>
        <p:nvPicPr>
          <p:cNvPr id="262" name="Google Shape;262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51564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1"/>
          <p:cNvSpPr txBox="1"/>
          <p:nvPr/>
        </p:nvSpPr>
        <p:spPr>
          <a:xfrm>
            <a:off x="5165734" y="3468141"/>
            <a:ext cx="186023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Loss Function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4995713" y="4102447"/>
            <a:ext cx="2200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Mean Squared Error (MSE)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4757588" y="4643437"/>
            <a:ext cx="26765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Penalizes large prediction errors efficiently.</a:t>
            </a:r>
            <a:endParaRPr/>
          </a:p>
        </p:txBody>
      </p:sp>
      <p:pic>
        <p:nvPicPr>
          <p:cNvPr id="266" name="Google Shape;26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3150" y="251564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9219068" y="3468141"/>
            <a:ext cx="1310163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Optimizer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9636025" y="4102447"/>
            <a:ext cx="476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Adam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8423225" y="4643437"/>
            <a:ext cx="29018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Learning Rate = 0.001. Uses backpropagation through attention layers.</a:t>
            </a:r>
            <a:endParaRPr/>
          </a:p>
        </p:txBody>
      </p:sp>
      <p:pic>
        <p:nvPicPr>
          <p:cNvPr id="270" name="Google Shape;270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27200" y="27061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351" y="270614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36025" y="2706141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Process</a:t>
            </a:r>
            <a:endParaRPr/>
          </a:p>
        </p:txBody>
      </p:sp>
      <p:sp>
        <p:nvSpPr>
          <p:cNvPr id="274" name="Google Shape;274;p21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7409"/>
            <a:ext cx="5238750" cy="3924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97409"/>
            <a:ext cx="5238750" cy="3924151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914400" y="2240309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ACC1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Zero-Shot Learning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914400" y="287461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trained the model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only on stocks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tested it on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crypto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914400" y="3766095"/>
            <a:ext cx="45529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model achieved reasonable MSE on crypto without ever seeing it during training. This proves the model learned fundamental financial patterns rather than just memorizing specific assets.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6724650" y="2240309"/>
            <a:ext cx="478059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Portfolio Simulation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724650" y="287461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Converted predictions into a trading strategy: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6724650" y="4758630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Demonstrates the economic usefulness of the model beyond just statistical accuracy.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7439025" y="3472755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Predicted Return &gt; 0 →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Long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7439025" y="3968055"/>
            <a:ext cx="3838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Predicted Return &lt; 0 →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Short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Advanced Experiments &amp; Results</a:t>
            </a:r>
            <a:endParaRPr/>
          </a:p>
        </p:txBody>
      </p:sp>
      <p:sp>
        <p:nvSpPr>
          <p:cNvPr id="291" name="Google Shape;291;p22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5650" y="347275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05650" y="396805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3"/>
          <p:cNvSpPr txBox="1"/>
          <p:nvPr/>
        </p:nvSpPr>
        <p:spPr>
          <a:xfrm>
            <a:off x="571500" y="1152525"/>
            <a:ext cx="5200650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Streamlit Dashboard</a:t>
            </a:r>
            <a:endParaRPr/>
          </a:p>
        </p:txBody>
      </p:sp>
      <p:pic>
        <p:nvPicPr>
          <p:cNvPr id="300" name="Google Shape;30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/>
        </p:nvSpPr>
        <p:spPr>
          <a:xfrm>
            <a:off x="571500" y="2470695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built an interactive dashboard to turn this theoretical experiment into a practical tool.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904875" y="3305026"/>
            <a:ext cx="4619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Forecast Visualization: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View predicted vs actual returns.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904875" y="4105126"/>
            <a:ext cx="4619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Portfolio Tracking: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Monitor simulated P&amp;L.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904875" y="4600426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Explainability: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View Attention Heatmaps to see which past days the model focused on for transparency.</a:t>
            </a:r>
            <a:endParaRPr/>
          </a:p>
        </p:txBody>
      </p:sp>
      <p:pic>
        <p:nvPicPr>
          <p:cNvPr id="305" name="Google Shape;30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0502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05126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00426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3320653" y="2974627"/>
            <a:ext cx="555069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314" name="Google Shape;314;p24"/>
          <p:cNvSpPr txBox="1"/>
          <p:nvPr/>
        </p:nvSpPr>
        <p:spPr>
          <a:xfrm>
            <a:off x="3452812" y="4403377"/>
            <a:ext cx="528637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Thank you for your attention.</a:t>
            </a:r>
            <a:endParaRPr/>
          </a:p>
        </p:txBody>
      </p:sp>
      <p:pic>
        <p:nvPicPr>
          <p:cNvPr id="315" name="Google Shape;31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1936402"/>
            <a:ext cx="952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/>
          <p:nvPr/>
        </p:nvSpPr>
        <p:spPr>
          <a:xfrm>
            <a:off x="571500" y="180320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571500" y="27860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571500" y="35708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571500" y="435560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571500" y="2776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571500" y="2776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571500" y="35613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571500" y="35613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571500" y="43460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571500" y="434607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5"/>
          <p:cNvSpPr/>
          <p:nvPr/>
        </p:nvSpPr>
        <p:spPr>
          <a:xfrm>
            <a:off x="571500" y="513084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5"/>
          <p:cNvSpPr/>
          <p:nvPr/>
        </p:nvSpPr>
        <p:spPr>
          <a:xfrm>
            <a:off x="571500" y="513084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17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5"/>
          <p:cNvSpPr txBox="1"/>
          <p:nvPr/>
        </p:nvSpPr>
        <p:spPr>
          <a:xfrm>
            <a:off x="1666875" y="194607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005/922/913/non_2x/abstract-digital-hologram-finance-in-the-futuristic-background-cryptocurrency-and-modern-technology-transactions-in-online-systems-on-the-background-internet-stock-trading-financial-communications-vector.jpg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666875" y="23898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336" name="Google Shape;33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9354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5"/>
          <p:cNvSpPr txBox="1"/>
          <p:nvPr/>
        </p:nvSpPr>
        <p:spPr>
          <a:xfrm>
            <a:off x="1666875" y="29289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https://png.pngtree.com/png-clipart/20250109/original/pngtree-stock-trading-monitor-with-market-charts-png-image_19340160.png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1666875" y="317465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id="339" name="Google Shape;33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7202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5"/>
          <p:cNvSpPr txBox="1"/>
          <p:nvPr/>
        </p:nvSpPr>
        <p:spPr>
          <a:xfrm>
            <a:off x="1666875" y="37137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https://www.business-science.io/assets/2018-12-04-time-series/time_series_deep_learning.png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1666875" y="39594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www.business-science.io</a:t>
            </a:r>
            <a:endParaRPr/>
          </a:p>
        </p:txBody>
      </p:sp>
      <p:pic>
        <p:nvPicPr>
          <p:cNvPr id="342" name="Google Shape;34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5050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5"/>
          <p:cNvSpPr txBox="1"/>
          <p:nvPr/>
        </p:nvSpPr>
        <p:spPr>
          <a:xfrm>
            <a:off x="1666875" y="449847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https://miro.medium.com/0*Qb1YkJkJsh-OjoZg.png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1666875" y="47441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pub.towardsai.net</a:t>
            </a:r>
            <a:endParaRPr/>
          </a:p>
        </p:txBody>
      </p:sp>
      <p:pic>
        <p:nvPicPr>
          <p:cNvPr id="345" name="Google Shape;34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2897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5"/>
          <p:cNvSpPr txBox="1"/>
          <p:nvPr/>
        </p:nvSpPr>
        <p:spPr>
          <a:xfrm>
            <a:off x="1666875" y="528324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https://cdn.dribbble.com/userupload/43782042/file/original-0191db23ed26565b31edab8c03e8512f.png?resize=752x&amp;vertical=center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1666875" y="552896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dribbble.com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762000" y="571500"/>
            <a:ext cx="11401425" cy="479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Image Sources</a:t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571500" y="571500"/>
            <a:ext cx="47625" cy="47997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PresentationFormat>Widescreen</PresentationFormat>
  <Paragraphs>103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PMYLS</cp:lastModifiedBy>
  <cp:revision>1</cp:revision>
  <dcterms:modified xsi:type="dcterms:W3CDTF">2026-01-06T17:47:55Z</dcterms:modified>
</cp:coreProperties>
</file>