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embeddedFontLst>
    <p:embeddedFont>
      <p:font typeface="Poppins"/>
      <p:regular r:id="rId19"/>
      <p:bold r:id="rId20"/>
      <p:italic r:id="rId21"/>
      <p:boldItalic r:id="rId22"/>
    </p:embeddedFont>
    <p:embeddedFont>
      <p:font typeface="Lat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bold.fntdata"/><Relationship Id="rId22" Type="http://schemas.openxmlformats.org/officeDocument/2006/relationships/font" Target="fonts/Poppins-boldItalic.fntdata"/><Relationship Id="rId21" Type="http://schemas.openxmlformats.org/officeDocument/2006/relationships/font" Target="fonts/Poppins-italic.fntdata"/><Relationship Id="rId24" Type="http://schemas.openxmlformats.org/officeDocument/2006/relationships/font" Target="fonts/Lato-bold.fntdata"/><Relationship Id="rId23" Type="http://schemas.openxmlformats.org/officeDocument/2006/relationships/font" Target="fonts/La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boldItalic.fntdata"/><Relationship Id="rId25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Poppins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1.png"/><Relationship Id="rId5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0.png"/><Relationship Id="rId5" Type="http://schemas.openxmlformats.org/officeDocument/2006/relationships/image" Target="../media/image35.png"/><Relationship Id="rId6" Type="http://schemas.openxmlformats.org/officeDocument/2006/relationships/image" Target="../media/image23.png"/><Relationship Id="rId7" Type="http://schemas.openxmlformats.org/officeDocument/2006/relationships/image" Target="../media/image3.png"/><Relationship Id="rId8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9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10.png"/><Relationship Id="rId7" Type="http://schemas.openxmlformats.org/officeDocument/2006/relationships/image" Target="../media/image4.png"/><Relationship Id="rId8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9" Type="http://schemas.openxmlformats.org/officeDocument/2006/relationships/image" Target="../media/image33.png"/><Relationship Id="rId5" Type="http://schemas.openxmlformats.org/officeDocument/2006/relationships/image" Target="../media/image13.png"/><Relationship Id="rId6" Type="http://schemas.openxmlformats.org/officeDocument/2006/relationships/image" Target="../media/image12.png"/><Relationship Id="rId7" Type="http://schemas.openxmlformats.org/officeDocument/2006/relationships/image" Target="../media/image19.png"/><Relationship Id="rId8" Type="http://schemas.openxmlformats.org/officeDocument/2006/relationships/image" Target="../media/image3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3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15.png"/><Relationship Id="rId5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21.png"/><Relationship Id="rId5" Type="http://schemas.openxmlformats.org/officeDocument/2006/relationships/image" Target="../media/image26.png"/><Relationship Id="rId6" Type="http://schemas.openxmlformats.org/officeDocument/2006/relationships/image" Target="../media/image25.png"/><Relationship Id="rId7" Type="http://schemas.openxmlformats.org/officeDocument/2006/relationships/image" Target="../media/image20.png"/><Relationship Id="rId8" Type="http://schemas.openxmlformats.org/officeDocument/2006/relationships/image" Target="../media/image3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27.png"/><Relationship Id="rId5" Type="http://schemas.openxmlformats.org/officeDocument/2006/relationships/image" Target="../media/image29.png"/><Relationship Id="rId6" Type="http://schemas.openxmlformats.org/officeDocument/2006/relationships/image" Target="../media/image28.png"/><Relationship Id="rId7" Type="http://schemas.openxmlformats.org/officeDocument/2006/relationships/image" Target="../media/image2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31.png"/><Relationship Id="rId5" Type="http://schemas.openxmlformats.org/officeDocument/2006/relationships/image" Target="../media/image34.png"/><Relationship Id="rId6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1625441" y="2272754"/>
            <a:ext cx="8941117" cy="75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166534"/>
                </a:solidFill>
                <a:latin typeface="Poppins"/>
                <a:ea typeface="Poppins"/>
                <a:cs typeface="Poppins"/>
                <a:sym typeface="Poppins"/>
              </a:rPr>
              <a:t>CropDoc Solutions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838325" y="3331815"/>
            <a:ext cx="851535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5803D"/>
                </a:solidFill>
                <a:latin typeface="Lato"/>
                <a:ea typeface="Lato"/>
                <a:cs typeface="Lato"/>
                <a:sym typeface="Lato"/>
              </a:rPr>
              <a:t>AI-Powered Plant Disease Detection &amp; Farmer Support Chatbot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838325" y="4200376"/>
            <a:ext cx="85153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CropDoc AI Data Team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419350"/>
            <a:ext cx="52863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571500" y="2419350"/>
            <a:ext cx="555069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66534"/>
                </a:solidFill>
                <a:latin typeface="Poppins"/>
                <a:ea typeface="Poppins"/>
                <a:cs typeface="Poppins"/>
                <a:sym typeface="Poppins"/>
              </a:rPr>
              <a:t>Who We Are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571500" y="3009900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Mission:</a:t>
            </a: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To democratize access to agricultural expertise for rural farmers using accessible Artificial Intelligence.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571500" y="3810000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Vision:</a:t>
            </a: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A world where every farmer, regardless of location or literacy, has a plant pathologist in their pocket.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571500" y="4610100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Core Focus:</a:t>
            </a: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Developing lightweight, explainable, and farmer-friendly AI tools to secure global food supply chains.</a:t>
            </a:r>
            <a:endParaRPr/>
          </a:p>
        </p:txBody>
      </p:sp>
      <p:pic>
        <p:nvPicPr>
          <p:cNvPr descr="image.png" id="100" name="Google Shape;100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419350"/>
            <a:ext cx="52863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571500" y="647700"/>
            <a:ext cx="1160145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4532D"/>
                </a:solidFill>
                <a:latin typeface="Poppins"/>
                <a:ea typeface="Poppins"/>
                <a:cs typeface="Poppins"/>
                <a:sym typeface="Poppins"/>
              </a:rPr>
              <a:t>Company Introduction</a:t>
            </a:r>
            <a:endParaRPr/>
          </a:p>
        </p:txBody>
      </p:sp>
      <p:sp>
        <p:nvSpPr>
          <p:cNvPr id="102" name="Google Shape;102;p14"/>
          <p:cNvSpPr/>
          <p:nvPr/>
        </p:nvSpPr>
        <p:spPr>
          <a:xfrm>
            <a:off x="571500" y="1476375"/>
            <a:ext cx="11049000" cy="28575"/>
          </a:xfrm>
          <a:prstGeom prst="rect">
            <a:avLst/>
          </a:prstGeom>
          <a:solidFill>
            <a:srgbClr val="BBF7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7" name="Google Shape;10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5"/>
          <p:cNvSpPr txBox="1"/>
          <p:nvPr/>
        </p:nvSpPr>
        <p:spPr>
          <a:xfrm>
            <a:off x="571500" y="647700"/>
            <a:ext cx="5200650" cy="1400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4532D"/>
                </a:solidFill>
                <a:latin typeface="Poppins"/>
                <a:ea typeface="Poppins"/>
                <a:cs typeface="Poppins"/>
                <a:sym typeface="Poppins"/>
              </a:rPr>
              <a:t>The Product: CropDoc</a:t>
            </a:r>
            <a:endParaRPr/>
          </a:p>
        </p:txBody>
      </p:sp>
      <p:sp>
        <p:nvSpPr>
          <p:cNvPr id="110" name="Google Shape;110;p15"/>
          <p:cNvSpPr/>
          <p:nvPr/>
        </p:nvSpPr>
        <p:spPr>
          <a:xfrm>
            <a:off x="571500" y="2162175"/>
            <a:ext cx="4953000" cy="28575"/>
          </a:xfrm>
          <a:prstGeom prst="rect">
            <a:avLst/>
          </a:prstGeom>
          <a:solidFill>
            <a:srgbClr val="BBF7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11" name="Google Shape;11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7620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571500" y="2571750"/>
            <a:ext cx="52006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66534"/>
                </a:solidFill>
                <a:latin typeface="Poppins"/>
                <a:ea typeface="Poppins"/>
                <a:cs typeface="Poppins"/>
                <a:sym typeface="Poppins"/>
              </a:rPr>
              <a:t>The Problem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571500" y="3305175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Diseases cause 20–40% of global yield losses. Rural farmers lack access to experts, and existing AI apps are untrustworthy "black boxes".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571500" y="4314825"/>
            <a:ext cx="52006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66534"/>
                </a:solidFill>
                <a:latin typeface="Poppins"/>
                <a:ea typeface="Poppins"/>
                <a:cs typeface="Poppins"/>
                <a:sym typeface="Poppins"/>
              </a:rPr>
              <a:t>The Solution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571500" y="504825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1. Visual Diagnosis:</a:t>
            </a: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ResNet-9 (lightweight CNN) for instant detection.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571500" y="594360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2. Explainability:</a:t>
            </a: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Grad-CAM heatmaps to build trust.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571500" y="653415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3. Advisor Chatbot:</a:t>
            </a: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LLM-powered non-chemical advice.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2" name="Google Shape;12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6"/>
          <p:cNvSpPr txBox="1"/>
          <p:nvPr/>
        </p:nvSpPr>
        <p:spPr>
          <a:xfrm>
            <a:off x="952500" y="3038475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4532D"/>
                </a:solidFill>
                <a:latin typeface="Lato"/>
                <a:ea typeface="Lato"/>
                <a:cs typeface="Lato"/>
                <a:sym typeface="Lato"/>
              </a:rPr>
              <a:t>Specific:</a:t>
            </a: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Develop a web-based prototype combining ResNet-9, Grad-CAM, and RAG-based chatbot.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952500" y="348615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4532D"/>
                </a:solidFill>
                <a:latin typeface="Lato"/>
                <a:ea typeface="Lato"/>
                <a:cs typeface="Lato"/>
                <a:sym typeface="Lato"/>
              </a:rPr>
              <a:t>Measurable:</a:t>
            </a: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Achieve 94–97% accuracy and ensure efficient runtime on low-resource devices.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952500" y="3933825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4532D"/>
                </a:solidFill>
                <a:latin typeface="Lato"/>
                <a:ea typeface="Lato"/>
                <a:cs typeface="Lato"/>
                <a:sym typeface="Lato"/>
              </a:rPr>
              <a:t>Achievable:</a:t>
            </a: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Utilize open-source PlantVillage datasets and transfer learning within 8 months.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952500" y="43815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4532D"/>
                </a:solidFill>
                <a:latin typeface="Lato"/>
                <a:ea typeface="Lato"/>
                <a:cs typeface="Lato"/>
                <a:sym typeface="Lato"/>
              </a:rPr>
              <a:t>Relevant:</a:t>
            </a: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Address lack of extension services, supporting UN SDG Zero Hunger.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952500" y="4829175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4532D"/>
                </a:solidFill>
                <a:latin typeface="Lato"/>
                <a:ea typeface="Lato"/>
                <a:cs typeface="Lato"/>
                <a:sym typeface="Lato"/>
              </a:rPr>
              <a:t>Time-bound:</a:t>
            </a: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Complete all phases from data collection to defense by Month 8.</a:t>
            </a:r>
            <a:endParaRPr/>
          </a:p>
        </p:txBody>
      </p:sp>
      <p:pic>
        <p:nvPicPr>
          <p:cNvPr descr="image.png" id="129" name="Google Shape;12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09086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53853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98621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433887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881562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 txBox="1"/>
          <p:nvPr/>
        </p:nvSpPr>
        <p:spPr>
          <a:xfrm>
            <a:off x="571500" y="647700"/>
            <a:ext cx="1160145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4532D"/>
                </a:solidFill>
                <a:latin typeface="Poppins"/>
                <a:ea typeface="Poppins"/>
                <a:cs typeface="Poppins"/>
                <a:sym typeface="Poppins"/>
              </a:rPr>
              <a:t>SMART Goals</a:t>
            </a:r>
            <a:endParaRPr/>
          </a:p>
        </p:txBody>
      </p:sp>
      <p:sp>
        <p:nvSpPr>
          <p:cNvPr id="135" name="Google Shape;135;p16"/>
          <p:cNvSpPr/>
          <p:nvPr/>
        </p:nvSpPr>
        <p:spPr>
          <a:xfrm>
            <a:off x="571500" y="1476375"/>
            <a:ext cx="11049000" cy="28575"/>
          </a:xfrm>
          <a:prstGeom prst="rect">
            <a:avLst/>
          </a:prstGeom>
          <a:solidFill>
            <a:srgbClr val="BBF7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0" name="Google Shape;14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47925"/>
            <a:ext cx="5286375" cy="3276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447925"/>
            <a:ext cx="5286375" cy="3276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7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7"/>
          <p:cNvSpPr txBox="1"/>
          <p:nvPr/>
        </p:nvSpPr>
        <p:spPr>
          <a:xfrm>
            <a:off x="866775" y="2743200"/>
            <a:ext cx="4930616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333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66534"/>
                </a:solidFill>
                <a:latin typeface="Poppins"/>
                <a:ea typeface="Poppins"/>
                <a:cs typeface="Poppins"/>
                <a:sym typeface="Poppins"/>
              </a:rPr>
              <a:t>Farmers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866775" y="3333750"/>
            <a:ext cx="46958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Expect accurate, instant diagnoses and simple, actionable advice without complex jargon.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866775" y="4133850"/>
            <a:ext cx="4930616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381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66534"/>
                </a:solidFill>
                <a:latin typeface="Poppins"/>
                <a:ea typeface="Poppins"/>
                <a:cs typeface="Poppins"/>
                <a:sym typeface="Poppins"/>
              </a:rPr>
              <a:t>Extension Officers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866775" y="4724400"/>
            <a:ext cx="46958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Expect a tool that helps them screen more farms quickly and efficiently.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6629400" y="2743200"/>
            <a:ext cx="4930616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66534"/>
                </a:solidFill>
                <a:latin typeface="Poppins"/>
                <a:ea typeface="Poppins"/>
                <a:cs typeface="Poppins"/>
                <a:sym typeface="Poppins"/>
              </a:rPr>
              <a:t>Investors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6629400" y="3333750"/>
            <a:ext cx="46958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Expect a scalable product with low deployment costs (low server/GPU overhead).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6629400" y="4133850"/>
            <a:ext cx="4930616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333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66534"/>
                </a:solidFill>
                <a:latin typeface="Poppins"/>
                <a:ea typeface="Poppins"/>
                <a:cs typeface="Poppins"/>
                <a:sym typeface="Poppins"/>
              </a:rPr>
              <a:t>Research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6629400" y="4724400"/>
            <a:ext cx="46958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Expect rigorous validation of the "Explainable AI" (Grad-CAM) component.</a:t>
            </a:r>
            <a:endParaRPr/>
          </a:p>
        </p:txBody>
      </p:sp>
      <p:pic>
        <p:nvPicPr>
          <p:cNvPr descr="image.png" id="152" name="Google Shape;152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6775" y="2800350"/>
            <a:ext cx="3333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4191000"/>
            <a:ext cx="2381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629400" y="280035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629400" y="4191000"/>
            <a:ext cx="3333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7"/>
          <p:cNvSpPr txBox="1"/>
          <p:nvPr/>
        </p:nvSpPr>
        <p:spPr>
          <a:xfrm>
            <a:off x="571500" y="647700"/>
            <a:ext cx="1160145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4532D"/>
                </a:solidFill>
                <a:latin typeface="Poppins"/>
                <a:ea typeface="Poppins"/>
                <a:cs typeface="Poppins"/>
                <a:sym typeface="Poppins"/>
              </a:rPr>
              <a:t>Stakeholders &amp; Expectations</a:t>
            </a:r>
            <a:endParaRPr/>
          </a:p>
        </p:txBody>
      </p:sp>
      <p:sp>
        <p:nvSpPr>
          <p:cNvPr id="157" name="Google Shape;157;p17"/>
          <p:cNvSpPr/>
          <p:nvPr/>
        </p:nvSpPr>
        <p:spPr>
          <a:xfrm>
            <a:off x="571500" y="1476375"/>
            <a:ext cx="11049000" cy="28575"/>
          </a:xfrm>
          <a:prstGeom prst="rect">
            <a:avLst/>
          </a:prstGeom>
          <a:solidFill>
            <a:srgbClr val="BBF7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2" name="Google Shape;16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19337"/>
            <a:ext cx="3492549" cy="3533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319337"/>
            <a:ext cx="3492549" cy="3533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319337"/>
            <a:ext cx="3492549" cy="3533775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8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/>
          <p:cNvSpPr txBox="1"/>
          <p:nvPr/>
        </p:nvSpPr>
        <p:spPr>
          <a:xfrm>
            <a:off x="794225" y="3348037"/>
            <a:ext cx="304709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66534"/>
                </a:solidFill>
                <a:latin typeface="Poppins"/>
                <a:ea typeface="Poppins"/>
                <a:cs typeface="Poppins"/>
                <a:sym typeface="Poppins"/>
              </a:rPr>
              <a:t>Technical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866775" y="3938587"/>
            <a:ext cx="2901999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Real-world photos may drop accuracy. </a:t>
            </a:r>
            <a:r>
              <a:rPr b="1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Mitigation:</a:t>
            </a: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Data augmentation. Chatbot hallucination. </a:t>
            </a:r>
            <a:r>
              <a:rPr b="1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Mitigation:</a:t>
            </a: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Curated Knowledge Base.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4572524" y="3348037"/>
            <a:ext cx="304709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66534"/>
                </a:solidFill>
                <a:latin typeface="Poppins"/>
                <a:ea typeface="Poppins"/>
                <a:cs typeface="Poppins"/>
                <a:sym typeface="Poppins"/>
              </a:rPr>
              <a:t>Business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4645074" y="3938587"/>
            <a:ext cx="290199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Low digital literacy and connectivity. </a:t>
            </a:r>
            <a:r>
              <a:rPr b="1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Mitigation:</a:t>
            </a: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Offline-first, lightweight model design for rural accessibility.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8350824" y="3348037"/>
            <a:ext cx="304709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66534"/>
                </a:solidFill>
                <a:latin typeface="Poppins"/>
                <a:ea typeface="Poppins"/>
                <a:cs typeface="Poppins"/>
                <a:sym typeface="Poppins"/>
              </a:rPr>
              <a:t>Ethical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8423374" y="3938587"/>
            <a:ext cx="290199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Bias in data and safety of advice. </a:t>
            </a:r>
            <a:r>
              <a:rPr b="1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Mitigation:</a:t>
            </a: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Diverse datasets and strictly non-chemical advice to avoid liability.</a:t>
            </a:r>
            <a:endParaRPr/>
          </a:p>
        </p:txBody>
      </p:sp>
      <p:pic>
        <p:nvPicPr>
          <p:cNvPr descr="image.png" id="173" name="Google Shape;173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89100" y="266223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67400" y="266223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588549" y="2662237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8"/>
          <p:cNvSpPr txBox="1"/>
          <p:nvPr/>
        </p:nvSpPr>
        <p:spPr>
          <a:xfrm>
            <a:off x="571500" y="647700"/>
            <a:ext cx="1160145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4532D"/>
                </a:solidFill>
                <a:latin typeface="Poppins"/>
                <a:ea typeface="Poppins"/>
                <a:cs typeface="Poppins"/>
                <a:sym typeface="Poppins"/>
              </a:rPr>
              <a:t>Risk Assessment</a:t>
            </a:r>
            <a:endParaRPr/>
          </a:p>
        </p:txBody>
      </p:sp>
      <p:sp>
        <p:nvSpPr>
          <p:cNvPr id="177" name="Google Shape;177;p18"/>
          <p:cNvSpPr/>
          <p:nvPr/>
        </p:nvSpPr>
        <p:spPr>
          <a:xfrm>
            <a:off x="571500" y="1476375"/>
            <a:ext cx="11049000" cy="28575"/>
          </a:xfrm>
          <a:prstGeom prst="rect">
            <a:avLst/>
          </a:prstGeom>
          <a:solidFill>
            <a:srgbClr val="BBF7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2" name="Google Shape;18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19350"/>
            <a:ext cx="52863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9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9"/>
          <p:cNvSpPr txBox="1"/>
          <p:nvPr/>
        </p:nvSpPr>
        <p:spPr>
          <a:xfrm>
            <a:off x="6334125" y="4876800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Combined Skills:</a:t>
            </a:r>
            <a:r>
              <a:rPr b="0" i="1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Python, TensorFlow/PyTorch, Computer Vision, NLP, Web Development.</a:t>
            </a:r>
            <a:endParaRPr/>
          </a:p>
        </p:txBody>
      </p:sp>
      <p:pic>
        <p:nvPicPr>
          <p:cNvPr descr="image.png" id="186" name="Google Shape;18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419350"/>
            <a:ext cx="52863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9"/>
          <p:cNvSpPr txBox="1"/>
          <p:nvPr/>
        </p:nvSpPr>
        <p:spPr>
          <a:xfrm>
            <a:off x="6715125" y="2571750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4532D"/>
                </a:solidFill>
                <a:latin typeface="Lato"/>
                <a:ea typeface="Lato"/>
                <a:cs typeface="Lato"/>
                <a:sym typeface="Lato"/>
              </a:rPr>
              <a:t>Hamza Shahid (Lead):</a:t>
            </a: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Project management, Model architecture (ResNet-9), training pipeline.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6715125" y="3324225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4532D"/>
                </a:solidFill>
                <a:latin typeface="Lato"/>
                <a:ea typeface="Lato"/>
                <a:cs typeface="Lato"/>
                <a:sym typeface="Lato"/>
              </a:rPr>
              <a:t>Hottam ud din (ML Engineer):</a:t>
            </a: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Data preprocessing, API development (Flask), Cloud deployment.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6715125" y="4076700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4532D"/>
                </a:solidFill>
                <a:latin typeface="Lato"/>
                <a:ea typeface="Lato"/>
                <a:cs typeface="Lato"/>
                <a:sym typeface="Lato"/>
              </a:rPr>
              <a:t>Tariq Jamil (NLP/Frontend):</a:t>
            </a: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Chatbot development, UI/UX design for farmers.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571500" y="647700"/>
            <a:ext cx="1160145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4532D"/>
                </a:solidFill>
                <a:latin typeface="Poppins"/>
                <a:ea typeface="Poppins"/>
                <a:cs typeface="Poppins"/>
                <a:sym typeface="Poppins"/>
              </a:rPr>
              <a:t>The Data Team</a:t>
            </a:r>
            <a:endParaRPr/>
          </a:p>
        </p:txBody>
      </p:sp>
      <p:sp>
        <p:nvSpPr>
          <p:cNvPr id="191" name="Google Shape;191;p19"/>
          <p:cNvSpPr/>
          <p:nvPr/>
        </p:nvSpPr>
        <p:spPr>
          <a:xfrm>
            <a:off x="571500" y="1476375"/>
            <a:ext cx="11049000" cy="28575"/>
          </a:xfrm>
          <a:prstGeom prst="rect">
            <a:avLst/>
          </a:prstGeom>
          <a:solidFill>
            <a:srgbClr val="BBF7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6" name="Google Shape;19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81250"/>
            <a:ext cx="5286375" cy="3009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381250"/>
            <a:ext cx="5286375" cy="340995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0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866775" y="2676525"/>
            <a:ext cx="4930616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66534"/>
                </a:solidFill>
                <a:latin typeface="Poppins"/>
                <a:ea typeface="Poppins"/>
                <a:cs typeface="Poppins"/>
                <a:sym typeface="Poppins"/>
              </a:rPr>
              <a:t>Prevention</a:t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6629400" y="2676525"/>
            <a:ext cx="4930616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66534"/>
                </a:solidFill>
                <a:latin typeface="Poppins"/>
                <a:ea typeface="Poppins"/>
                <a:cs typeface="Poppins"/>
                <a:sym typeface="Poppins"/>
              </a:rPr>
              <a:t>Resolution</a:t>
            </a:r>
            <a:endParaRPr/>
          </a:p>
        </p:txBody>
      </p:sp>
      <p:sp>
        <p:nvSpPr>
          <p:cNvPr id="202" name="Google Shape;202;p20"/>
          <p:cNvSpPr txBox="1"/>
          <p:nvPr/>
        </p:nvSpPr>
        <p:spPr>
          <a:xfrm>
            <a:off x="1133475" y="322897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03" name="Google Shape;203;p20"/>
          <p:cNvSpPr txBox="1"/>
          <p:nvPr/>
        </p:nvSpPr>
        <p:spPr>
          <a:xfrm>
            <a:off x="1247775" y="3228975"/>
            <a:ext cx="43148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1. Early Identification:</a:t>
            </a: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Issues raised in weekly meetings.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1133475" y="393382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1247775" y="3933825"/>
            <a:ext cx="43148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2. Open Discussion:</a:t>
            </a: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Focus on facts, not emotions.</a:t>
            </a: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1133475" y="433387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07" name="Google Shape;207;p20"/>
          <p:cNvSpPr txBox="1"/>
          <p:nvPr/>
        </p:nvSpPr>
        <p:spPr>
          <a:xfrm>
            <a:off x="1247775" y="4333875"/>
            <a:ext cx="43148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3. Role-Based Adjustment:</a:t>
            </a: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Redistribute tasks if needed.</a:t>
            </a:r>
            <a:endParaRPr/>
          </a:p>
        </p:txBody>
      </p:sp>
      <p:sp>
        <p:nvSpPr>
          <p:cNvPr id="208" name="Google Shape;208;p20"/>
          <p:cNvSpPr txBox="1"/>
          <p:nvPr/>
        </p:nvSpPr>
        <p:spPr>
          <a:xfrm>
            <a:off x="6896100" y="322897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09" name="Google Shape;209;p20"/>
          <p:cNvSpPr txBox="1"/>
          <p:nvPr/>
        </p:nvSpPr>
        <p:spPr>
          <a:xfrm>
            <a:off x="7010400" y="3228975"/>
            <a:ext cx="43148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4. Objective-Based:</a:t>
            </a: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Decisions align with project goals.</a:t>
            </a:r>
            <a:endParaRPr/>
          </a:p>
        </p:txBody>
      </p:sp>
      <p:sp>
        <p:nvSpPr>
          <p:cNvPr id="210" name="Google Shape;210;p20"/>
          <p:cNvSpPr txBox="1"/>
          <p:nvPr/>
        </p:nvSpPr>
        <p:spPr>
          <a:xfrm>
            <a:off x="6896100" y="393382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11" name="Google Shape;211;p20"/>
          <p:cNvSpPr txBox="1"/>
          <p:nvPr/>
        </p:nvSpPr>
        <p:spPr>
          <a:xfrm>
            <a:off x="7010400" y="3933825"/>
            <a:ext cx="43148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5. Voting:</a:t>
            </a: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Majority vote for technical disputes.</a:t>
            </a:r>
            <a:endParaRPr/>
          </a:p>
        </p:txBody>
      </p:sp>
      <p:sp>
        <p:nvSpPr>
          <p:cNvPr id="212" name="Google Shape;212;p20"/>
          <p:cNvSpPr txBox="1"/>
          <p:nvPr/>
        </p:nvSpPr>
        <p:spPr>
          <a:xfrm>
            <a:off x="6896100" y="433387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13" name="Google Shape;213;p20"/>
          <p:cNvSpPr txBox="1"/>
          <p:nvPr/>
        </p:nvSpPr>
        <p:spPr>
          <a:xfrm>
            <a:off x="7010400" y="4333875"/>
            <a:ext cx="43148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6. Mediation:</a:t>
            </a: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Supervisor acts as final judge.</a:t>
            </a:r>
            <a:endParaRPr/>
          </a:p>
        </p:txBody>
      </p:sp>
      <p:sp>
        <p:nvSpPr>
          <p:cNvPr id="214" name="Google Shape;214;p20"/>
          <p:cNvSpPr txBox="1"/>
          <p:nvPr/>
        </p:nvSpPr>
        <p:spPr>
          <a:xfrm>
            <a:off x="6896100" y="4733925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15" name="Google Shape;215;p20"/>
          <p:cNvSpPr txBox="1"/>
          <p:nvPr/>
        </p:nvSpPr>
        <p:spPr>
          <a:xfrm>
            <a:off x="7010400" y="4733925"/>
            <a:ext cx="43148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7. Documentation:</a:t>
            </a: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All decisions logged to prevent recurring issues.</a:t>
            </a:r>
            <a:endParaRPr/>
          </a:p>
        </p:txBody>
      </p:sp>
      <p:sp>
        <p:nvSpPr>
          <p:cNvPr id="216" name="Google Shape;216;p20"/>
          <p:cNvSpPr txBox="1"/>
          <p:nvPr/>
        </p:nvSpPr>
        <p:spPr>
          <a:xfrm>
            <a:off x="571500" y="647700"/>
            <a:ext cx="1160145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4532D"/>
                </a:solidFill>
                <a:latin typeface="Poppins"/>
                <a:ea typeface="Poppins"/>
                <a:cs typeface="Poppins"/>
                <a:sym typeface="Poppins"/>
              </a:rPr>
              <a:t>Conflict Management Strategies</a:t>
            </a:r>
            <a:endParaRPr/>
          </a:p>
        </p:txBody>
      </p:sp>
      <p:sp>
        <p:nvSpPr>
          <p:cNvPr id="217" name="Google Shape;217;p20"/>
          <p:cNvSpPr/>
          <p:nvPr/>
        </p:nvSpPr>
        <p:spPr>
          <a:xfrm>
            <a:off x="571500" y="1476375"/>
            <a:ext cx="11049000" cy="28575"/>
          </a:xfrm>
          <a:prstGeom prst="rect">
            <a:avLst/>
          </a:prstGeom>
          <a:solidFill>
            <a:srgbClr val="BBF7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2" name="Google Shape;22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1"/>
          <p:cNvSpPr/>
          <p:nvPr/>
        </p:nvSpPr>
        <p:spPr>
          <a:xfrm>
            <a:off x="571500" y="3524250"/>
            <a:ext cx="11049000" cy="38100"/>
          </a:xfrm>
          <a:prstGeom prst="rect">
            <a:avLst/>
          </a:prstGeom>
          <a:solidFill>
            <a:srgbClr val="BBF7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1"/>
          <p:cNvSpPr txBox="1"/>
          <p:nvPr/>
        </p:nvSpPr>
        <p:spPr>
          <a:xfrm>
            <a:off x="516254" y="3381375"/>
            <a:ext cx="232029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66534"/>
                </a:solidFill>
                <a:latin typeface="Poppins"/>
                <a:ea typeface="Poppins"/>
                <a:cs typeface="Poppins"/>
                <a:sym typeface="Poppins"/>
              </a:rPr>
              <a:t>Months 1-2</a:t>
            </a:r>
            <a:endParaRPr/>
          </a:p>
        </p:txBody>
      </p:sp>
      <p:sp>
        <p:nvSpPr>
          <p:cNvPr id="226" name="Google Shape;226;p21"/>
          <p:cNvSpPr txBox="1"/>
          <p:nvPr/>
        </p:nvSpPr>
        <p:spPr>
          <a:xfrm>
            <a:off x="571500" y="3971925"/>
            <a:ext cx="2209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Literature Review &amp; Data Collection</a:t>
            </a:r>
            <a:endParaRPr/>
          </a:p>
        </p:txBody>
      </p:sp>
      <p:sp>
        <p:nvSpPr>
          <p:cNvPr id="227" name="Google Shape;227;p21"/>
          <p:cNvSpPr txBox="1"/>
          <p:nvPr/>
        </p:nvSpPr>
        <p:spPr>
          <a:xfrm>
            <a:off x="3462605" y="3381375"/>
            <a:ext cx="232029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66534"/>
                </a:solidFill>
                <a:latin typeface="Poppins"/>
                <a:ea typeface="Poppins"/>
                <a:cs typeface="Poppins"/>
                <a:sym typeface="Poppins"/>
              </a:rPr>
              <a:t>Months 3-4</a:t>
            </a:r>
            <a:endParaRPr/>
          </a:p>
        </p:txBody>
      </p:sp>
      <p:sp>
        <p:nvSpPr>
          <p:cNvPr id="228" name="Google Shape;228;p21"/>
          <p:cNvSpPr txBox="1"/>
          <p:nvPr/>
        </p:nvSpPr>
        <p:spPr>
          <a:xfrm>
            <a:off x="3517850" y="3971925"/>
            <a:ext cx="2209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Training ResNet-9 Model</a:t>
            </a:r>
            <a:endParaRPr/>
          </a:p>
        </p:txBody>
      </p:sp>
      <p:sp>
        <p:nvSpPr>
          <p:cNvPr id="229" name="Google Shape;229;p21"/>
          <p:cNvSpPr txBox="1"/>
          <p:nvPr/>
        </p:nvSpPr>
        <p:spPr>
          <a:xfrm>
            <a:off x="6408955" y="3381375"/>
            <a:ext cx="232029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66534"/>
                </a:solidFill>
                <a:latin typeface="Poppins"/>
                <a:ea typeface="Poppins"/>
                <a:cs typeface="Poppins"/>
                <a:sym typeface="Poppins"/>
              </a:rPr>
              <a:t>Months 5-6</a:t>
            </a:r>
            <a:endParaRPr/>
          </a:p>
        </p:txBody>
      </p:sp>
      <p:sp>
        <p:nvSpPr>
          <p:cNvPr id="230" name="Google Shape;230;p21"/>
          <p:cNvSpPr txBox="1"/>
          <p:nvPr/>
        </p:nvSpPr>
        <p:spPr>
          <a:xfrm>
            <a:off x="6464200" y="3971925"/>
            <a:ext cx="2209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Grad-CAM &amp; Chatbot Dev</a:t>
            </a:r>
            <a:endParaRPr/>
          </a:p>
        </p:txBody>
      </p:sp>
      <p:sp>
        <p:nvSpPr>
          <p:cNvPr id="231" name="Google Shape;231;p21"/>
          <p:cNvSpPr txBox="1"/>
          <p:nvPr/>
        </p:nvSpPr>
        <p:spPr>
          <a:xfrm>
            <a:off x="9355306" y="3381375"/>
            <a:ext cx="232029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66534"/>
                </a:solidFill>
                <a:latin typeface="Poppins"/>
                <a:ea typeface="Poppins"/>
                <a:cs typeface="Poppins"/>
                <a:sym typeface="Poppins"/>
              </a:rPr>
              <a:t>Months 7-8</a:t>
            </a:r>
            <a:endParaRPr/>
          </a:p>
        </p:txBody>
      </p:sp>
      <p:sp>
        <p:nvSpPr>
          <p:cNvPr id="232" name="Google Shape;232;p21"/>
          <p:cNvSpPr txBox="1"/>
          <p:nvPr/>
        </p:nvSpPr>
        <p:spPr>
          <a:xfrm>
            <a:off x="9410551" y="3971925"/>
            <a:ext cx="2209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Deployment &amp; Final Defense</a:t>
            </a:r>
            <a:endParaRPr/>
          </a:p>
        </p:txBody>
      </p:sp>
      <p:sp>
        <p:nvSpPr>
          <p:cNvPr id="233" name="Google Shape;233;p21"/>
          <p:cNvSpPr txBox="1"/>
          <p:nvPr/>
        </p:nvSpPr>
        <p:spPr>
          <a:xfrm>
            <a:off x="571500" y="647700"/>
            <a:ext cx="1160145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4532D"/>
                </a:solidFill>
                <a:latin typeface="Poppins"/>
                <a:ea typeface="Poppins"/>
                <a:cs typeface="Poppins"/>
                <a:sym typeface="Poppins"/>
              </a:rPr>
              <a:t>Project Timeline (8 Months)</a:t>
            </a:r>
            <a:endParaRPr/>
          </a:p>
        </p:txBody>
      </p:sp>
      <p:sp>
        <p:nvSpPr>
          <p:cNvPr id="234" name="Google Shape;234;p21"/>
          <p:cNvSpPr/>
          <p:nvPr/>
        </p:nvSpPr>
        <p:spPr>
          <a:xfrm>
            <a:off x="571500" y="1476375"/>
            <a:ext cx="11049000" cy="28575"/>
          </a:xfrm>
          <a:prstGeom prst="rect">
            <a:avLst/>
          </a:prstGeom>
          <a:solidFill>
            <a:srgbClr val="BBF7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1"/>
          <p:cNvSpPr/>
          <p:nvPr/>
        </p:nvSpPr>
        <p:spPr>
          <a:xfrm>
            <a:off x="1562100" y="5172075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166534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1"/>
          <p:cNvSpPr/>
          <p:nvPr/>
        </p:nvSpPr>
        <p:spPr>
          <a:xfrm>
            <a:off x="4508450" y="5172075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166534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1"/>
          <p:cNvSpPr/>
          <p:nvPr/>
        </p:nvSpPr>
        <p:spPr>
          <a:xfrm>
            <a:off x="7454800" y="5172075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166534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1"/>
          <p:cNvSpPr/>
          <p:nvPr/>
        </p:nvSpPr>
        <p:spPr>
          <a:xfrm>
            <a:off x="10401151" y="5172075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166534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3" name="Google Shape;24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4" name="Google Shape;24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419350"/>
            <a:ext cx="52863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2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2"/>
          <p:cNvSpPr txBox="1"/>
          <p:nvPr/>
        </p:nvSpPr>
        <p:spPr>
          <a:xfrm>
            <a:off x="571500" y="2419350"/>
            <a:ext cx="555069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66534"/>
                </a:solidFill>
                <a:latin typeface="Poppins"/>
                <a:ea typeface="Poppins"/>
                <a:cs typeface="Poppins"/>
                <a:sym typeface="Poppins"/>
              </a:rPr>
              <a:t>Hardware &amp; Software</a:t>
            </a:r>
            <a:endParaRPr/>
          </a:p>
        </p:txBody>
      </p:sp>
      <p:pic>
        <p:nvPicPr>
          <p:cNvPr descr="image.png" id="247" name="Google Shape;247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419350"/>
            <a:ext cx="52863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2"/>
          <p:cNvSpPr txBox="1"/>
          <p:nvPr/>
        </p:nvSpPr>
        <p:spPr>
          <a:xfrm>
            <a:off x="952500" y="2971800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4532D"/>
                </a:solidFill>
                <a:latin typeface="Lato"/>
                <a:ea typeface="Lato"/>
                <a:cs typeface="Lato"/>
                <a:sym typeface="Lato"/>
              </a:rPr>
              <a:t>Compute:</a:t>
            </a: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GPUs (Google Colab / Tesla T4), 8GB+ RAM.</a:t>
            </a:r>
            <a:endParaRPr/>
          </a:p>
        </p:txBody>
      </p:sp>
      <p:sp>
        <p:nvSpPr>
          <p:cNvPr id="249" name="Google Shape;249;p22"/>
          <p:cNvSpPr txBox="1"/>
          <p:nvPr/>
        </p:nvSpPr>
        <p:spPr>
          <a:xfrm>
            <a:off x="952500" y="3419475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4532D"/>
                </a:solidFill>
                <a:latin typeface="Lato"/>
                <a:ea typeface="Lato"/>
                <a:cs typeface="Lato"/>
                <a:sym typeface="Lato"/>
              </a:rPr>
              <a:t>Stack:</a:t>
            </a: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Python, PyTorch, OpenCV, Flask, Hugging Face.</a:t>
            </a:r>
            <a:endParaRPr/>
          </a:p>
        </p:txBody>
      </p:sp>
      <p:sp>
        <p:nvSpPr>
          <p:cNvPr id="250" name="Google Shape;250;p22"/>
          <p:cNvSpPr txBox="1"/>
          <p:nvPr/>
        </p:nvSpPr>
        <p:spPr>
          <a:xfrm>
            <a:off x="952500" y="3867150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4532D"/>
                </a:solidFill>
                <a:latin typeface="Lato"/>
                <a:ea typeface="Lato"/>
                <a:cs typeface="Lato"/>
                <a:sym typeface="Lato"/>
              </a:rPr>
              <a:t>Data:</a:t>
            </a: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"New Plant Diseases Dataset" (Kaggle).</a:t>
            </a:r>
            <a:endParaRPr/>
          </a:p>
        </p:txBody>
      </p:sp>
      <p:pic>
        <p:nvPicPr>
          <p:cNvPr descr="image.png" id="251" name="Google Shape;251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02418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2" name="Google Shape;252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471862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3" name="Google Shape;253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3919537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2"/>
          <p:cNvSpPr txBox="1"/>
          <p:nvPr/>
        </p:nvSpPr>
        <p:spPr>
          <a:xfrm>
            <a:off x="571500" y="647700"/>
            <a:ext cx="1160145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4532D"/>
                </a:solidFill>
                <a:latin typeface="Poppins"/>
                <a:ea typeface="Poppins"/>
                <a:cs typeface="Poppins"/>
                <a:sym typeface="Poppins"/>
              </a:rPr>
              <a:t>Resources Required</a:t>
            </a:r>
            <a:endParaRPr/>
          </a:p>
        </p:txBody>
      </p:sp>
      <p:sp>
        <p:nvSpPr>
          <p:cNvPr id="255" name="Google Shape;255;p22"/>
          <p:cNvSpPr/>
          <p:nvPr/>
        </p:nvSpPr>
        <p:spPr>
          <a:xfrm>
            <a:off x="571500" y="1476375"/>
            <a:ext cx="11049000" cy="28575"/>
          </a:xfrm>
          <a:prstGeom prst="rect">
            <a:avLst/>
          </a:prstGeom>
          <a:solidFill>
            <a:srgbClr val="BBF7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0" name="Google Shape;26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1" name="Google Shape;26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99407"/>
            <a:ext cx="5286375" cy="33736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2" name="Google Shape;262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399407"/>
            <a:ext cx="5286375" cy="2705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3" name="Google Shape;263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6775" y="4694932"/>
            <a:ext cx="2977306" cy="782835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3"/>
          <p:cNvSpPr txBox="1"/>
          <p:nvPr/>
        </p:nvSpPr>
        <p:spPr>
          <a:xfrm>
            <a:off x="866775" y="2694682"/>
            <a:ext cx="4930616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66534"/>
                </a:solidFill>
                <a:latin typeface="Poppins"/>
                <a:ea typeface="Poppins"/>
                <a:cs typeface="Poppins"/>
                <a:sym typeface="Poppins"/>
              </a:rPr>
              <a:t>Measures of Success</a:t>
            </a:r>
            <a:endParaRPr/>
          </a:p>
        </p:txBody>
      </p:sp>
      <p:sp>
        <p:nvSpPr>
          <p:cNvPr id="266" name="Google Shape;266;p23"/>
          <p:cNvSpPr txBox="1"/>
          <p:nvPr/>
        </p:nvSpPr>
        <p:spPr>
          <a:xfrm>
            <a:off x="6629400" y="2694682"/>
            <a:ext cx="4930616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66534"/>
                </a:solidFill>
                <a:latin typeface="Poppins"/>
                <a:ea typeface="Poppins"/>
                <a:cs typeface="Poppins"/>
                <a:sym typeface="Poppins"/>
              </a:rPr>
              <a:t>Measures of Deviation</a:t>
            </a:r>
            <a:endParaRPr/>
          </a:p>
        </p:txBody>
      </p:sp>
      <p:sp>
        <p:nvSpPr>
          <p:cNvPr id="267" name="Google Shape;267;p23"/>
          <p:cNvSpPr txBox="1"/>
          <p:nvPr/>
        </p:nvSpPr>
        <p:spPr>
          <a:xfrm>
            <a:off x="1133475" y="324713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68" name="Google Shape;268;p23"/>
          <p:cNvSpPr txBox="1"/>
          <p:nvPr/>
        </p:nvSpPr>
        <p:spPr>
          <a:xfrm>
            <a:off x="1247775" y="3247132"/>
            <a:ext cx="43148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Accuracy:</a:t>
            </a: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F1-Score &gt; 0.95</a:t>
            </a:r>
            <a:endParaRPr/>
          </a:p>
        </p:txBody>
      </p:sp>
      <p:sp>
        <p:nvSpPr>
          <p:cNvPr id="269" name="Google Shape;269;p23"/>
          <p:cNvSpPr txBox="1"/>
          <p:nvPr/>
        </p:nvSpPr>
        <p:spPr>
          <a:xfrm>
            <a:off x="1133475" y="364718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70" name="Google Shape;270;p23"/>
          <p:cNvSpPr txBox="1"/>
          <p:nvPr/>
        </p:nvSpPr>
        <p:spPr>
          <a:xfrm>
            <a:off x="1247775" y="3647182"/>
            <a:ext cx="43148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Latency:</a:t>
            </a: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Inference &lt; 2s</a:t>
            </a:r>
            <a:endParaRPr/>
          </a:p>
        </p:txBody>
      </p:sp>
      <p:sp>
        <p:nvSpPr>
          <p:cNvPr id="271" name="Google Shape;271;p23"/>
          <p:cNvSpPr txBox="1"/>
          <p:nvPr/>
        </p:nvSpPr>
        <p:spPr>
          <a:xfrm>
            <a:off x="1133475" y="404723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72" name="Google Shape;272;p23"/>
          <p:cNvSpPr txBox="1"/>
          <p:nvPr/>
        </p:nvSpPr>
        <p:spPr>
          <a:xfrm>
            <a:off x="1247775" y="4047232"/>
            <a:ext cx="43148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Trust:</a:t>
            </a: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Positive user feedback</a:t>
            </a:r>
            <a:endParaRPr/>
          </a:p>
        </p:txBody>
      </p:sp>
      <p:pic>
        <p:nvPicPr>
          <p:cNvPr descr="image.png" id="273" name="Google Shape;273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66800" y="4894957"/>
            <a:ext cx="2577256" cy="382785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3"/>
          <p:cNvSpPr txBox="1"/>
          <p:nvPr/>
        </p:nvSpPr>
        <p:spPr>
          <a:xfrm>
            <a:off x="6896100" y="324713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75" name="Google Shape;275;p23"/>
          <p:cNvSpPr txBox="1"/>
          <p:nvPr/>
        </p:nvSpPr>
        <p:spPr>
          <a:xfrm>
            <a:off x="7010400" y="3247132"/>
            <a:ext cx="43148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Weekly Code Reviews:</a:t>
            </a: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Prevent technical debt.</a:t>
            </a:r>
            <a:endParaRPr/>
          </a:p>
        </p:txBody>
      </p:sp>
      <p:sp>
        <p:nvSpPr>
          <p:cNvPr id="276" name="Google Shape;276;p23"/>
          <p:cNvSpPr txBox="1"/>
          <p:nvPr/>
        </p:nvSpPr>
        <p:spPr>
          <a:xfrm>
            <a:off x="6896100" y="364718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77" name="Google Shape;277;p23"/>
          <p:cNvSpPr txBox="1"/>
          <p:nvPr/>
        </p:nvSpPr>
        <p:spPr>
          <a:xfrm>
            <a:off x="7010400" y="3647182"/>
            <a:ext cx="43148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Loss Monitoring:</a:t>
            </a: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Detect overfitting early.</a:t>
            </a:r>
            <a:endParaRPr/>
          </a:p>
        </p:txBody>
      </p:sp>
      <p:sp>
        <p:nvSpPr>
          <p:cNvPr id="278" name="Google Shape;278;p23"/>
          <p:cNvSpPr txBox="1"/>
          <p:nvPr/>
        </p:nvSpPr>
        <p:spPr>
          <a:xfrm>
            <a:off x="6896100" y="4047232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79" name="Google Shape;279;p23"/>
          <p:cNvSpPr txBox="1"/>
          <p:nvPr/>
        </p:nvSpPr>
        <p:spPr>
          <a:xfrm>
            <a:off x="7010400" y="4047232"/>
            <a:ext cx="43148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Scope Adjustment:</a:t>
            </a: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Drop non-critical features if &gt;1 week delay.</a:t>
            </a:r>
            <a:endParaRPr/>
          </a:p>
        </p:txBody>
      </p:sp>
      <p:sp>
        <p:nvSpPr>
          <p:cNvPr id="280" name="Google Shape;280;p23"/>
          <p:cNvSpPr txBox="1"/>
          <p:nvPr/>
        </p:nvSpPr>
        <p:spPr>
          <a:xfrm>
            <a:off x="571500" y="647700"/>
            <a:ext cx="1160145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4532D"/>
                </a:solidFill>
                <a:latin typeface="Poppins"/>
                <a:ea typeface="Poppins"/>
                <a:cs typeface="Poppins"/>
                <a:sym typeface="Poppins"/>
              </a:rPr>
              <a:t>Control Measures</a:t>
            </a:r>
            <a:endParaRPr/>
          </a:p>
        </p:txBody>
      </p:sp>
      <p:sp>
        <p:nvSpPr>
          <p:cNvPr id="281" name="Google Shape;281;p23"/>
          <p:cNvSpPr/>
          <p:nvPr/>
        </p:nvSpPr>
        <p:spPr>
          <a:xfrm>
            <a:off x="571500" y="1476375"/>
            <a:ext cx="11049000" cy="28575"/>
          </a:xfrm>
          <a:prstGeom prst="rect">
            <a:avLst/>
          </a:prstGeom>
          <a:solidFill>
            <a:srgbClr val="BBF7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6" name="Google Shape;28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4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4"/>
          <p:cNvSpPr txBox="1"/>
          <p:nvPr/>
        </p:nvSpPr>
        <p:spPr>
          <a:xfrm>
            <a:off x="4852987" y="2914650"/>
            <a:ext cx="2610326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4532D"/>
                </a:solidFill>
                <a:latin typeface="Poppins"/>
                <a:ea typeface="Poppins"/>
                <a:cs typeface="Poppins"/>
                <a:sym typeface="Poppins"/>
              </a:rPr>
              <a:t>Questions?</a:t>
            </a:r>
            <a:endParaRPr/>
          </a:p>
        </p:txBody>
      </p:sp>
      <p:sp>
        <p:nvSpPr>
          <p:cNvPr id="289" name="Google Shape;289;p24"/>
          <p:cNvSpPr txBox="1"/>
          <p:nvPr/>
        </p:nvSpPr>
        <p:spPr>
          <a:xfrm>
            <a:off x="4852987" y="3438525"/>
            <a:ext cx="24860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Thank you for listening!</a:t>
            </a:r>
            <a:endParaRPr/>
          </a:p>
        </p:txBody>
      </p:sp>
      <p:sp>
        <p:nvSpPr>
          <p:cNvPr id="290" name="Google Shape;290;p24"/>
          <p:cNvSpPr txBox="1"/>
          <p:nvPr/>
        </p:nvSpPr>
        <p:spPr>
          <a:xfrm>
            <a:off x="4852987" y="3838575"/>
            <a:ext cx="24860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CropDoc Solutions | team@cropdoc.ai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5" name="Google Shape;29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25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5"/>
          <p:cNvSpPr/>
          <p:nvPr/>
        </p:nvSpPr>
        <p:spPr>
          <a:xfrm>
            <a:off x="571500" y="2913757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5"/>
          <p:cNvSpPr/>
          <p:nvPr/>
        </p:nvSpPr>
        <p:spPr>
          <a:xfrm>
            <a:off x="571500" y="3698527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5"/>
          <p:cNvSpPr/>
          <p:nvPr/>
        </p:nvSpPr>
        <p:spPr>
          <a:xfrm>
            <a:off x="571500" y="368900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5"/>
          <p:cNvSpPr/>
          <p:nvPr/>
        </p:nvSpPr>
        <p:spPr>
          <a:xfrm>
            <a:off x="571500" y="368900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5"/>
          <p:cNvSpPr/>
          <p:nvPr/>
        </p:nvSpPr>
        <p:spPr>
          <a:xfrm>
            <a:off x="571500" y="447377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5"/>
          <p:cNvSpPr/>
          <p:nvPr/>
        </p:nvSpPr>
        <p:spPr>
          <a:xfrm>
            <a:off x="571500" y="447377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03" name="Google Shape;303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06318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5"/>
          <p:cNvSpPr txBox="1"/>
          <p:nvPr/>
        </p:nvSpPr>
        <p:spPr>
          <a:xfrm>
            <a:off x="1666875" y="3056632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https://images.stockcake.com/public/8/0/0/8003ae59-da5a-4a5e-9a5a-c5bd68ada835_large/smartphone-agriculture-monitoring-stockcake.jpg</a:t>
            </a:r>
            <a:endParaRPr/>
          </a:p>
        </p:txBody>
      </p:sp>
      <p:sp>
        <p:nvSpPr>
          <p:cNvPr id="305" name="Google Shape;305;p25"/>
          <p:cNvSpPr txBox="1"/>
          <p:nvPr/>
        </p:nvSpPr>
        <p:spPr>
          <a:xfrm>
            <a:off x="1666875" y="3302347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stockcake.com</a:t>
            </a:r>
            <a:endParaRPr/>
          </a:p>
        </p:txBody>
      </p:sp>
      <p:pic>
        <p:nvPicPr>
          <p:cNvPr descr="image.png" id="306" name="Google Shape;306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84795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25"/>
          <p:cNvSpPr txBox="1"/>
          <p:nvPr/>
        </p:nvSpPr>
        <p:spPr>
          <a:xfrm>
            <a:off x="1666875" y="3841402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https://png.pngtree.com/thumb_back/fw800/background/20251125/pngtree-diverse-team-of-professionals-collaborating-in-a-modern-office-meeting-room-image_20588350.webp</a:t>
            </a:r>
            <a:endParaRPr/>
          </a:p>
        </p:txBody>
      </p:sp>
      <p:sp>
        <p:nvSpPr>
          <p:cNvPr id="308" name="Google Shape;308;p25"/>
          <p:cNvSpPr txBox="1"/>
          <p:nvPr/>
        </p:nvSpPr>
        <p:spPr>
          <a:xfrm>
            <a:off x="1666875" y="4087117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pngtree.com</a:t>
            </a:r>
            <a:endParaRPr/>
          </a:p>
        </p:txBody>
      </p:sp>
      <p:pic>
        <p:nvPicPr>
          <p:cNvPr descr="image.png" id="309" name="Google Shape;309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63272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5"/>
          <p:cNvSpPr txBox="1"/>
          <p:nvPr/>
        </p:nvSpPr>
        <p:spPr>
          <a:xfrm>
            <a:off x="1666875" y="4626173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https://newscenter.lbl.gov/wp-content/uploads/2025/12/Featured_1190px_DataCenters_iStock-1809660148.jpg</a:t>
            </a:r>
            <a:endParaRPr/>
          </a:p>
        </p:txBody>
      </p:sp>
      <p:sp>
        <p:nvSpPr>
          <p:cNvPr id="311" name="Google Shape;311;p25"/>
          <p:cNvSpPr txBox="1"/>
          <p:nvPr/>
        </p:nvSpPr>
        <p:spPr>
          <a:xfrm>
            <a:off x="1666875" y="4871888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newscenter.lbl.gov</a:t>
            </a:r>
            <a:endParaRPr/>
          </a:p>
        </p:txBody>
      </p:sp>
      <p:sp>
        <p:nvSpPr>
          <p:cNvPr id="312" name="Google Shape;312;p25"/>
          <p:cNvSpPr txBox="1"/>
          <p:nvPr/>
        </p:nvSpPr>
        <p:spPr>
          <a:xfrm>
            <a:off x="571500" y="647700"/>
            <a:ext cx="1160145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4532D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  <p:sp>
        <p:nvSpPr>
          <p:cNvPr id="313" name="Google Shape;313;p25"/>
          <p:cNvSpPr/>
          <p:nvPr/>
        </p:nvSpPr>
        <p:spPr>
          <a:xfrm>
            <a:off x="571500" y="1476375"/>
            <a:ext cx="11049000" cy="28575"/>
          </a:xfrm>
          <a:prstGeom prst="rect">
            <a:avLst/>
          </a:prstGeom>
          <a:solidFill>
            <a:srgbClr val="BBF7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